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Grand Heavy" charset="1" panose="00000A07000000000000"/>
      <p:regular r:id="rId14"/>
    </p:embeddedFont>
    <p:embeddedFont>
      <p:font typeface="Agrandir" charset="1" panose="00000500000000000000"/>
      <p:regular r:id="rId15"/>
    </p:embeddedFont>
    <p:embeddedFont>
      <p:font typeface="Agrandir Bold" charset="1" panose="00000800000000000000"/>
      <p:regular r:id="rId16"/>
    </p:embeddedFont>
    <p:embeddedFont>
      <p:font typeface="Century Gothic Paneuropean" charset="1" panose="020B0502020202020204"/>
      <p:regular r:id="rId17"/>
    </p:embeddedFont>
    <p:embeddedFont>
      <p:font typeface="Century Gothic Paneuropean Italics" charset="1" panose="020B0502020202090204"/>
      <p:regular r:id="rId18"/>
    </p:embeddedFont>
    <p:embeddedFont>
      <p:font typeface="Century Gothic Paneuropean Bold" charset="1" panose="020B0702020202020204"/>
      <p:regular r:id="rId19"/>
    </p:embeddedFont>
    <p:embeddedFont>
      <p:font typeface="Century Gothic Paneuropean Bold Italics" charset="1" panose="020B070202020209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5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5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6994" y="-3259468"/>
            <a:ext cx="10474737" cy="14625104"/>
          </a:xfrm>
          <a:custGeom>
            <a:avLst/>
            <a:gdLst/>
            <a:ahLst/>
            <a:cxnLst/>
            <a:rect r="r" b="b" t="t" l="l"/>
            <a:pathLst>
              <a:path h="14625104" w="10474737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12437" y="8428574"/>
            <a:ext cx="4663126" cy="587121"/>
            <a:chOff x="0" y="0"/>
            <a:chExt cx="1228148" cy="154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8148" cy="154633"/>
            </a:xfrm>
            <a:custGeom>
              <a:avLst/>
              <a:gdLst/>
              <a:ahLst/>
              <a:cxnLst/>
              <a:rect r="r" b="b" t="t" l="l"/>
              <a:pathLst>
                <a:path h="154633" w="1228148">
                  <a:moveTo>
                    <a:pt x="77316" y="0"/>
                  </a:moveTo>
                  <a:lnTo>
                    <a:pt x="1150832" y="0"/>
                  </a:lnTo>
                  <a:cubicBezTo>
                    <a:pt x="1193533" y="0"/>
                    <a:pt x="1228148" y="34616"/>
                    <a:pt x="1228148" y="77316"/>
                  </a:cubicBezTo>
                  <a:lnTo>
                    <a:pt x="1228148" y="77316"/>
                  </a:lnTo>
                  <a:cubicBezTo>
                    <a:pt x="1228148" y="120017"/>
                    <a:pt x="1193533" y="154633"/>
                    <a:pt x="1150832" y="154633"/>
                  </a:cubicBezTo>
                  <a:lnTo>
                    <a:pt x="77316" y="154633"/>
                  </a:lnTo>
                  <a:cubicBezTo>
                    <a:pt x="34616" y="154633"/>
                    <a:pt x="0" y="120017"/>
                    <a:pt x="0" y="77316"/>
                  </a:cubicBezTo>
                  <a:lnTo>
                    <a:pt x="0" y="77316"/>
                  </a:lnTo>
                  <a:cubicBezTo>
                    <a:pt x="0" y="34616"/>
                    <a:pt x="34616" y="0"/>
                    <a:pt x="773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BD5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228148" cy="240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38763" y="8561797"/>
            <a:ext cx="320676" cy="320676"/>
          </a:xfrm>
          <a:custGeom>
            <a:avLst/>
            <a:gdLst/>
            <a:ahLst/>
            <a:cxnLst/>
            <a:rect r="r" b="b" t="t" l="l"/>
            <a:pathLst>
              <a:path h="320676" w="320676">
                <a:moveTo>
                  <a:pt x="0" y="0"/>
                </a:moveTo>
                <a:lnTo>
                  <a:pt x="320676" y="0"/>
                </a:lnTo>
                <a:lnTo>
                  <a:pt x="320676" y="320676"/>
                </a:lnTo>
                <a:lnTo>
                  <a:pt x="0" y="320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8561" y="8561797"/>
            <a:ext cx="320676" cy="320676"/>
          </a:xfrm>
          <a:custGeom>
            <a:avLst/>
            <a:gdLst/>
            <a:ahLst/>
            <a:cxnLst/>
            <a:rect r="r" b="b" t="t" l="l"/>
            <a:pathLst>
              <a:path h="320676" w="320676">
                <a:moveTo>
                  <a:pt x="0" y="0"/>
                </a:moveTo>
                <a:lnTo>
                  <a:pt x="320676" y="0"/>
                </a:lnTo>
                <a:lnTo>
                  <a:pt x="320676" y="320676"/>
                </a:lnTo>
                <a:lnTo>
                  <a:pt x="0" y="320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94494" y="4796428"/>
            <a:ext cx="13699013" cy="206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b="true" sz="10400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EDA REPORT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342233" y="235749"/>
            <a:ext cx="9603535" cy="5690094"/>
          </a:xfrm>
          <a:custGeom>
            <a:avLst/>
            <a:gdLst/>
            <a:ahLst/>
            <a:cxnLst/>
            <a:rect r="r" b="b" t="t" l="l"/>
            <a:pathLst>
              <a:path h="5690094" w="9603535">
                <a:moveTo>
                  <a:pt x="0" y="0"/>
                </a:moveTo>
                <a:lnTo>
                  <a:pt x="9603534" y="0"/>
                </a:lnTo>
                <a:lnTo>
                  <a:pt x="9603534" y="5690095"/>
                </a:lnTo>
                <a:lnTo>
                  <a:pt x="0" y="56900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49237" y="8476620"/>
            <a:ext cx="3589526" cy="39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1989">
                <a:solidFill>
                  <a:srgbClr val="FFBD59"/>
                </a:solidFill>
                <a:latin typeface="Agrandir"/>
                <a:ea typeface="Agrandir"/>
                <a:cs typeface="Agrandir"/>
                <a:sym typeface="Agrandir"/>
              </a:rPr>
              <a:t>www.amazon.com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26896" y="6983119"/>
            <a:ext cx="6434208" cy="42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11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by Nicko Farhan Dewangga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35448" y="1055618"/>
            <a:ext cx="3217104" cy="32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AMAZON.COM INC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6994" y="728764"/>
            <a:ext cx="7618301" cy="10636873"/>
          </a:xfrm>
          <a:custGeom>
            <a:avLst/>
            <a:gdLst/>
            <a:ahLst/>
            <a:cxnLst/>
            <a:rect r="r" b="b" t="t" l="l"/>
            <a:pathLst>
              <a:path h="10636873" w="7618301">
                <a:moveTo>
                  <a:pt x="0" y="0"/>
                </a:moveTo>
                <a:lnTo>
                  <a:pt x="7618301" y="0"/>
                </a:lnTo>
                <a:lnTo>
                  <a:pt x="7618301" y="10636872"/>
                </a:lnTo>
                <a:lnTo>
                  <a:pt x="0" y="10636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81718" y="1640365"/>
            <a:ext cx="6222236" cy="7006270"/>
            <a:chOff x="0" y="0"/>
            <a:chExt cx="1638778" cy="1845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8778" cy="1845273"/>
            </a:xfrm>
            <a:custGeom>
              <a:avLst/>
              <a:gdLst/>
              <a:ahLst/>
              <a:cxnLst/>
              <a:rect r="r" b="b" t="t" l="l"/>
              <a:pathLst>
                <a:path h="1845273" w="1638778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1814167"/>
                  </a:lnTo>
                  <a:cubicBezTo>
                    <a:pt x="1638778" y="1831346"/>
                    <a:pt x="1624851" y="1845273"/>
                    <a:pt x="1607672" y="1845273"/>
                  </a:cubicBezTo>
                  <a:lnTo>
                    <a:pt x="31106" y="1845273"/>
                  </a:lnTo>
                  <a:cubicBezTo>
                    <a:pt x="13927" y="1845273"/>
                    <a:pt x="0" y="1831346"/>
                    <a:pt x="0" y="1814167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638778" cy="1940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84046" y="2176193"/>
            <a:ext cx="6269753" cy="2967307"/>
            <a:chOff x="0" y="0"/>
            <a:chExt cx="1651293" cy="781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81718" y="3568896"/>
            <a:ext cx="1872556" cy="42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b="true" sz="211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POPULATION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135224" y="3685538"/>
            <a:ext cx="0" cy="23830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784046" y="5391150"/>
            <a:ext cx="6269753" cy="2967307"/>
            <a:chOff x="0" y="0"/>
            <a:chExt cx="1651293" cy="781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281718" y="6879103"/>
            <a:ext cx="1872556" cy="32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b="true" sz="211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135224" y="6900495"/>
            <a:ext cx="0" cy="45834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524455" y="2510889"/>
            <a:ext cx="1036701" cy="1036701"/>
          </a:xfrm>
          <a:custGeom>
            <a:avLst/>
            <a:gdLst/>
            <a:ahLst/>
            <a:cxnLst/>
            <a:rect r="r" b="b" t="t" l="l"/>
            <a:pathLst>
              <a:path h="1036701" w="1036701">
                <a:moveTo>
                  <a:pt x="0" y="0"/>
                </a:moveTo>
                <a:lnTo>
                  <a:pt x="1036702" y="0"/>
                </a:lnTo>
                <a:lnTo>
                  <a:pt x="1036702" y="1036701"/>
                </a:lnTo>
                <a:lnTo>
                  <a:pt x="0" y="1036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598153" y="5831891"/>
            <a:ext cx="889306" cy="889306"/>
          </a:xfrm>
          <a:custGeom>
            <a:avLst/>
            <a:gdLst/>
            <a:ahLst/>
            <a:cxnLst/>
            <a:rect r="r" b="b" t="t" l="l"/>
            <a:pathLst>
              <a:path h="889306" w="889306">
                <a:moveTo>
                  <a:pt x="0" y="0"/>
                </a:moveTo>
                <a:lnTo>
                  <a:pt x="889306" y="0"/>
                </a:lnTo>
                <a:lnTo>
                  <a:pt x="889306" y="889306"/>
                </a:lnTo>
                <a:lnTo>
                  <a:pt x="0" y="889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5757" y="4528249"/>
            <a:ext cx="4526127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DATA CONTEXT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5757" y="3932307"/>
            <a:ext cx="13270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1337" y="3187361"/>
            <a:ext cx="2916183" cy="121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Sales and delivery data from 100.000 Amazon online transactions in USA, from 2020 to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81337" y="6401519"/>
            <a:ext cx="2916183" cy="121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380"/>
              </a:lnSpc>
              <a:buAutoNum type="arabicPeriod" startAt="1"/>
            </a:pPr>
            <a:r>
              <a:rPr lang="en-US" sz="17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Track record from historical data</a:t>
            </a:r>
          </a:p>
          <a:p>
            <a:pPr algn="l" marL="367031" indent="-183515" lvl="1">
              <a:lnSpc>
                <a:spcPts val="2380"/>
              </a:lnSpc>
              <a:buAutoNum type="arabicPeriod" startAt="1"/>
            </a:pPr>
            <a:r>
              <a:rPr lang="en-US" sz="17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Identify opportunity for improvement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208804" y="293502"/>
            <a:ext cx="1646317" cy="870524"/>
            <a:chOff x="0" y="0"/>
            <a:chExt cx="433598" cy="2292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Order ID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702846" y="293502"/>
            <a:ext cx="1646317" cy="870524"/>
            <a:chOff x="0" y="0"/>
            <a:chExt cx="433598" cy="2292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Order Date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08804" y="1397941"/>
            <a:ext cx="1646317" cy="870524"/>
            <a:chOff x="0" y="0"/>
            <a:chExt cx="433598" cy="2292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Customer ID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02846" y="1386881"/>
            <a:ext cx="1646317" cy="870524"/>
            <a:chOff x="0" y="0"/>
            <a:chExt cx="433598" cy="2292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Customer Name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08804" y="2506590"/>
            <a:ext cx="1646317" cy="870524"/>
            <a:chOff x="0" y="0"/>
            <a:chExt cx="433598" cy="2292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Product 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702846" y="2506590"/>
            <a:ext cx="1646317" cy="870524"/>
            <a:chOff x="0" y="0"/>
            <a:chExt cx="433598" cy="2292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Product Name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208804" y="3623229"/>
            <a:ext cx="1646317" cy="870524"/>
            <a:chOff x="0" y="0"/>
            <a:chExt cx="433598" cy="2292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Category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702846" y="3648380"/>
            <a:ext cx="1646317" cy="870524"/>
            <a:chOff x="0" y="0"/>
            <a:chExt cx="433598" cy="22927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Brand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208804" y="4731878"/>
            <a:ext cx="1646317" cy="870524"/>
            <a:chOff x="0" y="0"/>
            <a:chExt cx="433598" cy="22927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Quantity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702846" y="4737979"/>
            <a:ext cx="1646317" cy="870524"/>
            <a:chOff x="0" y="0"/>
            <a:chExt cx="433598" cy="22927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Unit Price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208804" y="5833165"/>
            <a:ext cx="1646317" cy="870524"/>
            <a:chOff x="0" y="0"/>
            <a:chExt cx="433598" cy="22927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Discount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702846" y="5856153"/>
            <a:ext cx="1646317" cy="870524"/>
            <a:chOff x="0" y="0"/>
            <a:chExt cx="433598" cy="22927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Shipping Cost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208804" y="8130601"/>
            <a:ext cx="1646317" cy="870524"/>
            <a:chOff x="0" y="0"/>
            <a:chExt cx="433598" cy="22927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Total Amount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702846" y="6993377"/>
            <a:ext cx="1646317" cy="870524"/>
            <a:chOff x="0" y="0"/>
            <a:chExt cx="433598" cy="22927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Payment Method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208804" y="9164888"/>
            <a:ext cx="1646317" cy="870524"/>
            <a:chOff x="0" y="0"/>
            <a:chExt cx="433598" cy="22927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Order Status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702846" y="8130601"/>
            <a:ext cx="1646317" cy="870524"/>
            <a:chOff x="0" y="0"/>
            <a:chExt cx="433598" cy="22927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Area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702846" y="9220200"/>
            <a:ext cx="1646317" cy="870524"/>
            <a:chOff x="0" y="0"/>
            <a:chExt cx="433598" cy="22927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Seller ID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208804" y="6993377"/>
            <a:ext cx="1646317" cy="870524"/>
            <a:chOff x="0" y="0"/>
            <a:chExt cx="433598" cy="22927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3598" cy="229274"/>
            </a:xfrm>
            <a:custGeom>
              <a:avLst/>
              <a:gdLst/>
              <a:ahLst/>
              <a:cxnLst/>
              <a:rect r="r" b="b" t="t" l="l"/>
              <a:pathLst>
                <a:path h="229274" w="433598">
                  <a:moveTo>
                    <a:pt x="98754" y="0"/>
                  </a:moveTo>
                  <a:lnTo>
                    <a:pt x="334844" y="0"/>
                  </a:lnTo>
                  <a:cubicBezTo>
                    <a:pt x="389384" y="0"/>
                    <a:pt x="433598" y="44214"/>
                    <a:pt x="433598" y="98754"/>
                  </a:cubicBezTo>
                  <a:lnTo>
                    <a:pt x="433598" y="130520"/>
                  </a:lnTo>
                  <a:cubicBezTo>
                    <a:pt x="433598" y="185060"/>
                    <a:pt x="389384" y="229274"/>
                    <a:pt x="334844" y="229274"/>
                  </a:cubicBezTo>
                  <a:lnTo>
                    <a:pt x="98754" y="229274"/>
                  </a:lnTo>
                  <a:cubicBezTo>
                    <a:pt x="44214" y="229274"/>
                    <a:pt x="0" y="185060"/>
                    <a:pt x="0" y="130520"/>
                  </a:cubicBezTo>
                  <a:lnTo>
                    <a:pt x="0" y="98754"/>
                  </a:lnTo>
                  <a:cubicBezTo>
                    <a:pt x="0" y="44214"/>
                    <a:pt x="44214" y="0"/>
                    <a:pt x="98754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0"/>
              <a:ext cx="433598" cy="32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  <a:r>
                <a:rPr lang="en-US" b="true" sz="198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Tax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224282" y="182303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76359">
            <a:off x="-227560" y="455732"/>
            <a:ext cx="10474737" cy="14625104"/>
          </a:xfrm>
          <a:custGeom>
            <a:avLst/>
            <a:gdLst/>
            <a:ahLst/>
            <a:cxnLst/>
            <a:rect r="r" b="b" t="t" l="l"/>
            <a:pathLst>
              <a:path h="14625104" w="10474737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35437" y="3482757"/>
            <a:ext cx="1033592" cy="1020437"/>
          </a:xfrm>
          <a:custGeom>
            <a:avLst/>
            <a:gdLst/>
            <a:ahLst/>
            <a:cxnLst/>
            <a:rect r="r" b="b" t="t" l="l"/>
            <a:pathLst>
              <a:path h="1020437" w="1033592">
                <a:moveTo>
                  <a:pt x="0" y="0"/>
                </a:moveTo>
                <a:lnTo>
                  <a:pt x="1033592" y="0"/>
                </a:lnTo>
                <a:lnTo>
                  <a:pt x="1033592" y="1020437"/>
                </a:lnTo>
                <a:lnTo>
                  <a:pt x="0" y="1020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88201" y="3482757"/>
            <a:ext cx="1111367" cy="1020437"/>
          </a:xfrm>
          <a:custGeom>
            <a:avLst/>
            <a:gdLst/>
            <a:ahLst/>
            <a:cxnLst/>
            <a:rect r="r" b="b" t="t" l="l"/>
            <a:pathLst>
              <a:path h="1020437" w="1111367">
                <a:moveTo>
                  <a:pt x="0" y="0"/>
                </a:moveTo>
                <a:lnTo>
                  <a:pt x="1111367" y="0"/>
                </a:lnTo>
                <a:lnTo>
                  <a:pt x="1111367" y="1020437"/>
                </a:lnTo>
                <a:lnTo>
                  <a:pt x="0" y="10204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87962" y="0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9326" y="1223927"/>
            <a:ext cx="14450082" cy="8756285"/>
          </a:xfrm>
          <a:custGeom>
            <a:avLst/>
            <a:gdLst/>
            <a:ahLst/>
            <a:cxnLst/>
            <a:rect r="r" b="b" t="t" l="l"/>
            <a:pathLst>
              <a:path h="8756285" w="14450082">
                <a:moveTo>
                  <a:pt x="0" y="0"/>
                </a:moveTo>
                <a:lnTo>
                  <a:pt x="14450082" y="0"/>
                </a:lnTo>
                <a:lnTo>
                  <a:pt x="14450082" y="8756285"/>
                </a:lnTo>
                <a:lnTo>
                  <a:pt x="0" y="87562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59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683666" y="1680059"/>
            <a:ext cx="3608592" cy="506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Texas &amp; California mendominasi penjualan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Kota Charlotte adalah kota dengan penjualan tertinggi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 i="true">
                <a:solidFill>
                  <a:srgbClr val="000000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Spread</a:t>
            </a: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kategori produk dan brand merata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Selama 5 tahun, tidak ada perkembangan signifikan dalam jumlah pesanan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326" y="22000"/>
            <a:ext cx="6722259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SALES SUMMARY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76359">
            <a:off x="-227560" y="455732"/>
            <a:ext cx="10474737" cy="14625104"/>
          </a:xfrm>
          <a:custGeom>
            <a:avLst/>
            <a:gdLst/>
            <a:ahLst/>
            <a:cxnLst/>
            <a:rect r="r" b="b" t="t" l="l"/>
            <a:pathLst>
              <a:path h="14625104" w="10474737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87962" y="0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9326" y="1364380"/>
            <a:ext cx="14276935" cy="8691084"/>
          </a:xfrm>
          <a:custGeom>
            <a:avLst/>
            <a:gdLst/>
            <a:ahLst/>
            <a:cxnLst/>
            <a:rect r="r" b="b" t="t" l="l"/>
            <a:pathLst>
              <a:path h="8691084" w="14276935">
                <a:moveTo>
                  <a:pt x="0" y="0"/>
                </a:moveTo>
                <a:lnTo>
                  <a:pt x="14276935" y="0"/>
                </a:lnTo>
                <a:lnTo>
                  <a:pt x="14276935" y="8691084"/>
                </a:lnTo>
                <a:lnTo>
                  <a:pt x="0" y="8691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679408" y="1316755"/>
            <a:ext cx="3608592" cy="858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Tidak ada pertumbuhan jumlah konsumen baru selama 5 tahun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Kategori customer dengan total transaksi “Sedang” mendominasi.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32.590 customer adalah </a:t>
            </a: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peluang</a:t>
            </a: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untuk ditingkatkan ke kategori "Tinggi”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Semua kategori konsumen paling banyak menggunakan kartu kredit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Benefit dari kartu kredit bisa diterapkan di Amazon Pay untuk meningkatkan jumlah user dan revenue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326" y="162453"/>
            <a:ext cx="6722259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KNOW YOUR CUSTOMER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76359">
            <a:off x="-227560" y="455732"/>
            <a:ext cx="10474737" cy="14625104"/>
          </a:xfrm>
          <a:custGeom>
            <a:avLst/>
            <a:gdLst/>
            <a:ahLst/>
            <a:cxnLst/>
            <a:rect r="r" b="b" t="t" l="l"/>
            <a:pathLst>
              <a:path h="14625104" w="10474737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87962" y="0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9326" y="1690268"/>
            <a:ext cx="14454340" cy="8022159"/>
          </a:xfrm>
          <a:custGeom>
            <a:avLst/>
            <a:gdLst/>
            <a:ahLst/>
            <a:cxnLst/>
            <a:rect r="r" b="b" t="t" l="l"/>
            <a:pathLst>
              <a:path h="8022159" w="14454340">
                <a:moveTo>
                  <a:pt x="0" y="0"/>
                </a:moveTo>
                <a:lnTo>
                  <a:pt x="14454340" y="0"/>
                </a:lnTo>
                <a:lnTo>
                  <a:pt x="14454340" y="8022158"/>
                </a:lnTo>
                <a:lnTo>
                  <a:pt x="0" y="8022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683666" y="2166937"/>
            <a:ext cx="3608592" cy="54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Seluruh metode pembayaran menawarkan diskon yang relatif sama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Diskon tidak mendorong jumlah penjualan lebih banyak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Metode diskon tidak efektif untuk meningkatkan penjualan, sebaiknya diminimalisir untuk mengurangi biaya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326" y="183820"/>
            <a:ext cx="6722259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DOES DISCOUNT WORK?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76359">
            <a:off x="-227560" y="455732"/>
            <a:ext cx="10474737" cy="14625104"/>
          </a:xfrm>
          <a:custGeom>
            <a:avLst/>
            <a:gdLst/>
            <a:ahLst/>
            <a:cxnLst/>
            <a:rect r="r" b="b" t="t" l="l"/>
            <a:pathLst>
              <a:path h="14625104" w="10474737">
                <a:moveTo>
                  <a:pt x="0" y="0"/>
                </a:moveTo>
                <a:lnTo>
                  <a:pt x="10474737" y="0"/>
                </a:lnTo>
                <a:lnTo>
                  <a:pt x="10474737" y="14625104"/>
                </a:lnTo>
                <a:lnTo>
                  <a:pt x="0" y="1462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87962" y="0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9326" y="1385747"/>
            <a:ext cx="14574248" cy="8635242"/>
          </a:xfrm>
          <a:custGeom>
            <a:avLst/>
            <a:gdLst/>
            <a:ahLst/>
            <a:cxnLst/>
            <a:rect r="r" b="b" t="t" l="l"/>
            <a:pathLst>
              <a:path h="8635242" w="14574248">
                <a:moveTo>
                  <a:pt x="0" y="0"/>
                </a:moveTo>
                <a:lnTo>
                  <a:pt x="14574248" y="0"/>
                </a:lnTo>
                <a:lnTo>
                  <a:pt x="14574248" y="8635242"/>
                </a:lnTo>
                <a:lnTo>
                  <a:pt x="0" y="8635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683666" y="1778433"/>
            <a:ext cx="3608592" cy="8192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Ada 3.028 transaksi yang dibatalkan dan 3.049 yang dikembalikan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Total nilai transaksi yang dibatalkan dan dikembalikan adalah sekitar </a:t>
            </a: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$5.5 juta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Dari rata-rata transaksi dikembalikan per Seller sejumlah 1 transaksi, masih banyak penjual yang jumlah transaksi dikembalikan di atas rata-rata</a:t>
            </a:r>
          </a:p>
          <a:p>
            <a:pPr algn="l" marL="474986" indent="-237493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Program sanksi perlu dibuat untuk memastikan produk penjual dapat diterima konsumen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326" y="183820"/>
            <a:ext cx="8132407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DELIVERY &amp; SELLER PERFORMANCE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68247" y="345803"/>
            <a:ext cx="6222236" cy="9479808"/>
            <a:chOff x="0" y="0"/>
            <a:chExt cx="1638778" cy="2496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8778" cy="2496739"/>
            </a:xfrm>
            <a:custGeom>
              <a:avLst/>
              <a:gdLst/>
              <a:ahLst/>
              <a:cxnLst/>
              <a:rect r="r" b="b" t="t" l="l"/>
              <a:pathLst>
                <a:path h="2496739" w="1638778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2465634"/>
                  </a:lnTo>
                  <a:cubicBezTo>
                    <a:pt x="1638778" y="2482813"/>
                    <a:pt x="1624851" y="2496739"/>
                    <a:pt x="1607672" y="2496739"/>
                  </a:cubicBezTo>
                  <a:lnTo>
                    <a:pt x="31106" y="2496739"/>
                  </a:lnTo>
                  <a:cubicBezTo>
                    <a:pt x="13927" y="2496739"/>
                    <a:pt x="0" y="2482813"/>
                    <a:pt x="0" y="2465634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638778" cy="2591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576" y="742882"/>
            <a:ext cx="6269753" cy="2112017"/>
            <a:chOff x="0" y="0"/>
            <a:chExt cx="1651293" cy="556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1293" cy="556252"/>
            </a:xfrm>
            <a:custGeom>
              <a:avLst/>
              <a:gdLst/>
              <a:ahLst/>
              <a:cxnLst/>
              <a:rect r="r" b="b" t="t" l="l"/>
              <a:pathLst>
                <a:path h="556252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530321"/>
                  </a:lnTo>
                  <a:cubicBezTo>
                    <a:pt x="1651293" y="537198"/>
                    <a:pt x="1648561" y="543794"/>
                    <a:pt x="1643698" y="548657"/>
                  </a:cubicBezTo>
                  <a:cubicBezTo>
                    <a:pt x="1638835" y="553520"/>
                    <a:pt x="1632239" y="556252"/>
                    <a:pt x="1625362" y="556252"/>
                  </a:cubicBezTo>
                  <a:lnTo>
                    <a:pt x="25931" y="556252"/>
                  </a:lnTo>
                  <a:cubicBezTo>
                    <a:pt x="19054" y="556252"/>
                    <a:pt x="12458" y="553520"/>
                    <a:pt x="7595" y="548657"/>
                  </a:cubicBezTo>
                  <a:cubicBezTo>
                    <a:pt x="2732" y="543794"/>
                    <a:pt x="0" y="537198"/>
                    <a:pt x="0" y="530321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651293" cy="651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11231316" y="1517655"/>
            <a:ext cx="19050" cy="78821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570576" y="3121599"/>
            <a:ext cx="6269753" cy="2967307"/>
            <a:chOff x="0" y="0"/>
            <a:chExt cx="1651293" cy="781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623981" y="1097419"/>
            <a:ext cx="761088" cy="801913"/>
          </a:xfrm>
          <a:custGeom>
            <a:avLst/>
            <a:gdLst/>
            <a:ahLst/>
            <a:cxnLst/>
            <a:rect r="r" b="b" t="t" l="l"/>
            <a:pathLst>
              <a:path h="801913" w="761088">
                <a:moveTo>
                  <a:pt x="0" y="0"/>
                </a:moveTo>
                <a:lnTo>
                  <a:pt x="761088" y="0"/>
                </a:lnTo>
                <a:lnTo>
                  <a:pt x="761088" y="801912"/>
                </a:lnTo>
                <a:lnTo>
                  <a:pt x="0" y="801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87962" y="0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90665" y="1246414"/>
            <a:ext cx="542022" cy="542022"/>
          </a:xfrm>
          <a:custGeom>
            <a:avLst/>
            <a:gdLst/>
            <a:ahLst/>
            <a:cxnLst/>
            <a:rect r="r" b="b" t="t" l="l"/>
            <a:pathLst>
              <a:path h="542022" w="542022">
                <a:moveTo>
                  <a:pt x="0" y="0"/>
                </a:moveTo>
                <a:lnTo>
                  <a:pt x="542021" y="0"/>
                </a:lnTo>
                <a:lnTo>
                  <a:pt x="542021" y="542022"/>
                </a:lnTo>
                <a:lnTo>
                  <a:pt x="0" y="5420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03162" y="3536826"/>
            <a:ext cx="841656" cy="841656"/>
          </a:xfrm>
          <a:custGeom>
            <a:avLst/>
            <a:gdLst/>
            <a:ahLst/>
            <a:cxnLst/>
            <a:rect r="r" b="b" t="t" l="l"/>
            <a:pathLst>
              <a:path h="841656" w="841656">
                <a:moveTo>
                  <a:pt x="0" y="0"/>
                </a:moveTo>
                <a:lnTo>
                  <a:pt x="841655" y="0"/>
                </a:lnTo>
                <a:lnTo>
                  <a:pt x="841655" y="841655"/>
                </a:lnTo>
                <a:lnTo>
                  <a:pt x="0" y="841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H="true">
            <a:off x="11202744" y="4211148"/>
            <a:ext cx="19050" cy="78821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8570576" y="6355606"/>
            <a:ext cx="6269753" cy="2967307"/>
            <a:chOff x="0" y="0"/>
            <a:chExt cx="1651293" cy="781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>
            <a:off x="11202744" y="7445155"/>
            <a:ext cx="19050" cy="78821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9294261" y="6774706"/>
            <a:ext cx="992807" cy="992807"/>
          </a:xfrm>
          <a:custGeom>
            <a:avLst/>
            <a:gdLst/>
            <a:ahLst/>
            <a:cxnLst/>
            <a:rect r="r" b="b" t="t" l="l"/>
            <a:pathLst>
              <a:path h="992807" w="992807">
                <a:moveTo>
                  <a:pt x="0" y="0"/>
                </a:moveTo>
                <a:lnTo>
                  <a:pt x="992807" y="0"/>
                </a:lnTo>
                <a:lnTo>
                  <a:pt x="992807" y="992807"/>
                </a:lnTo>
                <a:lnTo>
                  <a:pt x="0" y="992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068247" y="1950694"/>
            <a:ext cx="1872556" cy="42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1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 GROWTH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68247" y="4609553"/>
            <a:ext cx="1872556" cy="10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b="true" sz="211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DISCOUNT PROGRAM IS NOT EFFECTIVE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5757" y="4528249"/>
            <a:ext cx="6652907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MAIN CHALLENGE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35757" y="3932307"/>
            <a:ext cx="13270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40879" y="1479325"/>
            <a:ext cx="2916183" cy="8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Tidak ada pertumbuhan signifikan untuk jumlah konsumen dan transaksi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40879" y="4178705"/>
            <a:ext cx="2916183" cy="8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Program diskon tidak mendorong pertumbuhan transaksi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68247" y="7843560"/>
            <a:ext cx="1872556" cy="80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sz="211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RETURNED PRODUCT COSTS A LOT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40879" y="7412712"/>
            <a:ext cx="2916183" cy="8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$ 2.8 Juta kerugian dari produk yang dikembalikan kepada penjual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77348" y="278972"/>
            <a:ext cx="6222236" cy="9846207"/>
            <a:chOff x="0" y="0"/>
            <a:chExt cx="1638778" cy="2593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8778" cy="2593240"/>
            </a:xfrm>
            <a:custGeom>
              <a:avLst/>
              <a:gdLst/>
              <a:ahLst/>
              <a:cxnLst/>
              <a:rect r="r" b="b" t="t" l="l"/>
              <a:pathLst>
                <a:path h="2593240" w="1638778">
                  <a:moveTo>
                    <a:pt x="31106" y="0"/>
                  </a:moveTo>
                  <a:lnTo>
                    <a:pt x="1607672" y="0"/>
                  </a:lnTo>
                  <a:cubicBezTo>
                    <a:pt x="1624851" y="0"/>
                    <a:pt x="1638778" y="13927"/>
                    <a:pt x="1638778" y="31106"/>
                  </a:cubicBezTo>
                  <a:lnTo>
                    <a:pt x="1638778" y="2562134"/>
                  </a:lnTo>
                  <a:cubicBezTo>
                    <a:pt x="1638778" y="2579313"/>
                    <a:pt x="1624851" y="2593240"/>
                    <a:pt x="1607672" y="2593240"/>
                  </a:cubicBezTo>
                  <a:lnTo>
                    <a:pt x="31106" y="2593240"/>
                  </a:lnTo>
                  <a:cubicBezTo>
                    <a:pt x="13927" y="2593240"/>
                    <a:pt x="0" y="2579313"/>
                    <a:pt x="0" y="2562134"/>
                  </a:cubicBezTo>
                  <a:lnTo>
                    <a:pt x="0" y="31106"/>
                  </a:lnTo>
                  <a:cubicBezTo>
                    <a:pt x="0" y="13927"/>
                    <a:pt x="13927" y="0"/>
                    <a:pt x="31106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638778" cy="268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53437" y="449652"/>
            <a:ext cx="6269753" cy="2967307"/>
            <a:chOff x="0" y="0"/>
            <a:chExt cx="1651293" cy="7815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887196" y="1501619"/>
            <a:ext cx="0" cy="91475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253437" y="3621747"/>
            <a:ext cx="6269753" cy="2967307"/>
            <a:chOff x="0" y="0"/>
            <a:chExt cx="1651293" cy="781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487962" y="0"/>
            <a:ext cx="1800038" cy="1066523"/>
          </a:xfrm>
          <a:custGeom>
            <a:avLst/>
            <a:gdLst/>
            <a:ahLst/>
            <a:cxnLst/>
            <a:rect r="r" b="b" t="t" l="l"/>
            <a:pathLst>
              <a:path h="1066523" w="1800038">
                <a:moveTo>
                  <a:pt x="0" y="0"/>
                </a:moveTo>
                <a:lnTo>
                  <a:pt x="1800038" y="0"/>
                </a:lnTo>
                <a:lnTo>
                  <a:pt x="1800038" y="1066523"/>
                </a:lnTo>
                <a:lnTo>
                  <a:pt x="0" y="1066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38082" y="703678"/>
            <a:ext cx="1157728" cy="1157728"/>
          </a:xfrm>
          <a:custGeom>
            <a:avLst/>
            <a:gdLst/>
            <a:ahLst/>
            <a:cxnLst/>
            <a:rect r="r" b="b" t="t" l="l"/>
            <a:pathLst>
              <a:path h="1157728" w="1157728">
                <a:moveTo>
                  <a:pt x="0" y="0"/>
                </a:moveTo>
                <a:lnTo>
                  <a:pt x="1157728" y="0"/>
                </a:lnTo>
                <a:lnTo>
                  <a:pt x="1157728" y="1157727"/>
                </a:lnTo>
                <a:lnTo>
                  <a:pt x="0" y="1157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20543" y="3960773"/>
            <a:ext cx="992807" cy="992807"/>
          </a:xfrm>
          <a:custGeom>
            <a:avLst/>
            <a:gdLst/>
            <a:ahLst/>
            <a:cxnLst/>
            <a:rect r="r" b="b" t="t" l="l"/>
            <a:pathLst>
              <a:path h="992807" w="992807">
                <a:moveTo>
                  <a:pt x="0" y="0"/>
                </a:moveTo>
                <a:lnTo>
                  <a:pt x="992806" y="0"/>
                </a:lnTo>
                <a:lnTo>
                  <a:pt x="992806" y="992806"/>
                </a:lnTo>
                <a:lnTo>
                  <a:pt x="0" y="992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1896721" y="4661847"/>
            <a:ext cx="0" cy="91475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253437" y="6793841"/>
            <a:ext cx="6269753" cy="2967307"/>
            <a:chOff x="0" y="0"/>
            <a:chExt cx="1651293" cy="7815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51293" cy="781513"/>
            </a:xfrm>
            <a:custGeom>
              <a:avLst/>
              <a:gdLst/>
              <a:ahLst/>
              <a:cxnLst/>
              <a:rect r="r" b="b" t="t" l="l"/>
              <a:pathLst>
                <a:path h="781513" w="1651293">
                  <a:moveTo>
                    <a:pt x="25931" y="0"/>
                  </a:moveTo>
                  <a:lnTo>
                    <a:pt x="1625362" y="0"/>
                  </a:lnTo>
                  <a:cubicBezTo>
                    <a:pt x="1632239" y="0"/>
                    <a:pt x="1638835" y="2732"/>
                    <a:pt x="1643698" y="7595"/>
                  </a:cubicBezTo>
                  <a:cubicBezTo>
                    <a:pt x="1648561" y="12458"/>
                    <a:pt x="1651293" y="19054"/>
                    <a:pt x="1651293" y="25931"/>
                  </a:cubicBezTo>
                  <a:lnTo>
                    <a:pt x="1651293" y="755582"/>
                  </a:lnTo>
                  <a:cubicBezTo>
                    <a:pt x="1651293" y="762459"/>
                    <a:pt x="1648561" y="769055"/>
                    <a:pt x="1643698" y="773918"/>
                  </a:cubicBezTo>
                  <a:cubicBezTo>
                    <a:pt x="1638835" y="778781"/>
                    <a:pt x="1632239" y="781513"/>
                    <a:pt x="1625362" y="781513"/>
                  </a:cubicBezTo>
                  <a:lnTo>
                    <a:pt x="25931" y="781513"/>
                  </a:lnTo>
                  <a:cubicBezTo>
                    <a:pt x="19054" y="781513"/>
                    <a:pt x="12458" y="778781"/>
                    <a:pt x="7595" y="773918"/>
                  </a:cubicBezTo>
                  <a:cubicBezTo>
                    <a:pt x="2732" y="769055"/>
                    <a:pt x="0" y="762459"/>
                    <a:pt x="0" y="755582"/>
                  </a:cubicBezTo>
                  <a:lnTo>
                    <a:pt x="0" y="25931"/>
                  </a:lnTo>
                  <a:cubicBezTo>
                    <a:pt x="0" y="19054"/>
                    <a:pt x="2732" y="12458"/>
                    <a:pt x="7595" y="7595"/>
                  </a:cubicBezTo>
                  <a:cubicBezTo>
                    <a:pt x="12458" y="2732"/>
                    <a:pt x="19054" y="0"/>
                    <a:pt x="25931" y="0"/>
                  </a:cubicBezTo>
                  <a:close/>
                </a:path>
              </a:pathLst>
            </a:custGeom>
            <a:solidFill>
              <a:srgbClr val="FF9A0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651293" cy="87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4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896721" y="7833941"/>
            <a:ext cx="0" cy="91475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0118589" y="7023007"/>
            <a:ext cx="877221" cy="877221"/>
          </a:xfrm>
          <a:custGeom>
            <a:avLst/>
            <a:gdLst/>
            <a:ahLst/>
            <a:cxnLst/>
            <a:rect r="r" b="b" t="t" l="l"/>
            <a:pathLst>
              <a:path h="877221" w="877221">
                <a:moveTo>
                  <a:pt x="0" y="0"/>
                </a:moveTo>
                <a:lnTo>
                  <a:pt x="877221" y="0"/>
                </a:lnTo>
                <a:lnTo>
                  <a:pt x="877221" y="877221"/>
                </a:lnTo>
                <a:lnTo>
                  <a:pt x="0" y="877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51108" y="5109700"/>
            <a:ext cx="1872556" cy="80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b="true" sz="211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PAYLATER FOR AMAZON PAY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51108" y="1842355"/>
            <a:ext cx="1872556" cy="116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b="true" sz="211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ATTRACT NEW CUSTOMERS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5757" y="4528249"/>
            <a:ext cx="6652907" cy="120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4299" b="true">
                <a:solidFill>
                  <a:srgbClr val="242424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RECOMMENDED PROGRAMS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5757" y="3932307"/>
            <a:ext cx="13270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88313" y="1082763"/>
            <a:ext cx="2916183" cy="174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Affiliate program dengan skema komisi untuk member yang merekomendasikan Amazon kepada konsumen baru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8313" y="4074478"/>
            <a:ext cx="2916183" cy="204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Benefit dari kartu kredit diaplikasikan di Amazon Pay. Bunga kredit dapat menjadi sumber revenue tambahan dan bisa menjadi benefit tambahan bagi member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51108" y="8052628"/>
            <a:ext cx="1872556" cy="151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"/>
              </a:lnSpc>
            </a:pPr>
            <a:r>
              <a:rPr lang="en-US" sz="211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PUNISHMENT FOR SELLER WITH REPEATED RETURNED PRODUCT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88313" y="7541847"/>
            <a:ext cx="2916183" cy="145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Melakukan penilaian dan seleksi untuk penjual dengan </a:t>
            </a:r>
            <a:r>
              <a:rPr lang="en-US" sz="1700" i="true" b="true">
                <a:solidFill>
                  <a:srgbClr val="00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track record</a:t>
            </a:r>
            <a:r>
              <a:rPr lang="en-US" sz="17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pengembalian produk tinggi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DAG6ik68k3o</dc:identifier>
  <dcterms:modified xsi:type="dcterms:W3CDTF">2011-08-01T06:04:30Z</dcterms:modified>
  <cp:revision>1</cp:revision>
  <dc:title>Nicko Farhan - Final Project</dc:title>
</cp:coreProperties>
</file>